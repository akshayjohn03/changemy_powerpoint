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OTD</c:v>
                </c:pt>
              </c:strCache>
            </c:strRef>
          </c:tx>
          <c:spPr>
            <a:ln>
              <a:solidFill>
                <a:srgbClr val="00E5FF"/>
              </a:solidFill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94.1</c:v>
                </c:pt>
                <c:pt idx="1">
                  <c:v>96.0</c:v>
                </c:pt>
                <c:pt idx="2">
                  <c:v>97.2</c:v>
                </c:pt>
                <c:pt idx="3">
                  <c:v>97.6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FTR</c:v>
                </c:pt>
              </c:strCache>
            </c:strRef>
          </c:tx>
          <c:spPr>
            <a:ln>
              <a:solidFill>
                <a:srgbClr val="00E5FF"/>
              </a:solidFill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92.8</c:v>
                </c:pt>
                <c:pt idx="1">
                  <c:v>94.5</c:v>
                </c:pt>
                <c:pt idx="2">
                  <c:v>96.1</c:v>
                </c:pt>
                <c:pt idx="3">
                  <c:v>96.8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Arial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Arial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Arial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Arial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Arial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9144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FY25 Operations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2F6FC"/>
                </a:solidFill>
                <a:latin typeface="Arial"/>
                <a:ea typeface="Arial"/>
                <a:cs typeface="Arial"/>
              </a:rPr>
              <a:t>Prepared by the Delivery Excellence Office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Service Performance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743200" cy="1463040"/>
          </a:xfrm>
          <a:prstGeom prst="roundRect">
            <a:avLst/>
          </a:prstGeom>
          <a:solidFill>
            <a:srgbClr val="03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97.6%</a:t>
            </a:r>
          </a:p>
          <a:p>
            <a:pPr/>
            <a:r>
              <a:rPr sz="1300" b="0">
                <a:solidFill>
                  <a:srgbClr val="93A5C4"/>
                </a:solidFill>
                <a:latin typeface="Segoe UI"/>
                <a:ea typeface="Segoe UI"/>
                <a:cs typeface="Segoe UI"/>
              </a:rPr>
              <a:t>On-time delivery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1554480"/>
            <a:ext cx="2743200" cy="1463040"/>
          </a:xfrm>
          <a:prstGeom prst="roundRect">
            <a:avLst/>
          </a:prstGeom>
          <a:solidFill>
            <a:srgbClr val="03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96.8%</a:t>
            </a:r>
          </a:p>
          <a:p>
            <a:pPr/>
            <a:r>
              <a:rPr sz="1300" b="0">
                <a:solidFill>
                  <a:srgbClr val="93A5C4"/>
                </a:solidFill>
                <a:latin typeface="Segoe UI"/>
                <a:ea typeface="Segoe UI"/>
                <a:cs typeface="Segoe UI"/>
              </a:rPr>
              <a:t>First-time right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554480"/>
            <a:ext cx="2743200" cy="1463040"/>
          </a:xfrm>
          <a:prstGeom prst="roundRect">
            <a:avLst/>
          </a:prstGeom>
          <a:solidFill>
            <a:srgbClr val="03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E5484D"/>
                </a:solidFill>
                <a:latin typeface="Arial"/>
                <a:ea typeface="Arial"/>
                <a:cs typeface="Arial"/>
              </a:rPr>
              <a:t>-2.1%</a:t>
            </a:r>
          </a:p>
          <a:p>
            <a:pPr/>
            <a:r>
              <a:rPr sz="1300" b="0">
                <a:solidFill>
                  <a:srgbClr val="93A5C4"/>
                </a:solidFill>
                <a:latin typeface="Segoe UI"/>
                <a:ea typeface="Segoe UI"/>
                <a:cs typeface="Segoe UI"/>
              </a:rPr>
              <a:t>Margin alert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3474720"/>
          <a:ext cx="85953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548640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Region</a:t>
                      </a:r>
                    </a:p>
                  </a:txBody>
                  <a:tcPr>
                    <a:solidFill>
                      <a:srgbClr val="030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OTD</a:t>
                      </a:r>
                    </a:p>
                  </a:txBody>
                  <a:tcPr>
                    <a:solidFill>
                      <a:srgbClr val="030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Churn</a:t>
                      </a:r>
                    </a:p>
                  </a:txBody>
                  <a:tcPr>
                    <a:solidFill>
                      <a:srgbClr val="030C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AMER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1.9%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EMEA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1.2%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577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93A5C4"/>
                </a:solidFill>
                <a:latin typeface="Arial"/>
              </a:rPr>
              <a:t>Source: internal ops dashboard, FY25 Q3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0058400" y="5852160"/>
            <a:ext cx="1645920" cy="365760"/>
            <a:chOff x="10058400" y="5852160"/>
            <a:chExt cx="1645920" cy="365760"/>
          </a:xfrm>
        </p:grpSpPr>
        <p:sp>
          <p:nvSpPr>
            <p:cNvPr id="10" name="TextBox 9"/>
            <p:cNvSpPr txBox="1"/>
            <p:nvPr/>
          </p:nvSpPr>
          <p:spPr>
            <a:xfrm>
              <a:off x="10058400" y="5852160"/>
              <a:ext cx="164592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100" b="0">
                  <a:solidFill>
                    <a:srgbClr val="93A5C4"/>
                  </a:solidFill>
                  <a:latin typeface="Arial"/>
                </a:rPr>
                <a:t>Confidential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Quarterly Trend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463040"/>
          <a:ext cx="7772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961120" y="2011680"/>
            <a:ext cx="27432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Arial"/>
              </a:rPr>
              <a:t>Both series improved for four consecutive quarters; the Q4 margin dip needs a dedicated recovery plan with named owners.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F2F6FC"/>
      </a:dk1>
      <a:lt1>
        <a:srgbClr val="030C1E"/>
      </a:lt1>
      <a:dk2>
        <a:srgbClr val="081632"/>
      </a:dk2>
      <a:lt2>
        <a:srgbClr val="0E2148"/>
      </a:lt2>
      <a:accent1>
        <a:srgbClr val="FFB81C"/>
      </a:accent1>
      <a:accent2>
        <a:srgbClr val="00E5FF"/>
      </a:accent2>
      <a:accent3>
        <a:srgbClr val="FFDD81"/>
      </a:accent3>
      <a:accent4>
        <a:srgbClr val="FFCC6A"/>
      </a:accent4>
      <a:accent5>
        <a:srgbClr val="E6AA38"/>
      </a:accent5>
      <a:accent6>
        <a:srgbClr val="D59A1A"/>
      </a:accent6>
      <a:hlink>
        <a:srgbClr val="00E5FF"/>
      </a:hlink>
      <a:folHlink>
        <a:srgbClr val="93A5C4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Segoe UI"/>
        <a:cs typeface="Segoe UI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