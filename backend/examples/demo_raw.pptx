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OTD</c:v>
                </c:pt>
              </c:strCache>
            </c:strRef>
          </c:tx>
          <c:spPr>
            <a:ln>
              <a:solidFill>
                <a:srgbClr val="2E75B6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94.1</c:v>
                </c:pt>
                <c:pt idx="1">
                  <c:v>96.0</c:v>
                </c:pt>
                <c:pt idx="2">
                  <c:v>97.2</c:v>
                </c:pt>
                <c:pt idx="3">
                  <c:v>97.6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FTR</c:v>
                </c:pt>
              </c:strCache>
            </c:strRef>
          </c:tx>
          <c:spPr>
            <a:ln>
              <a:solidFill>
                <a:srgbClr val="2E75B6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92.8</c:v>
                </c:pt>
                <c:pt idx="1">
                  <c:v>94.5</c:v>
                </c:pt>
                <c:pt idx="2">
                  <c:v>96.1</c:v>
                </c:pt>
                <c:pt idx="3">
                  <c:v>96.8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9144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Times New Roman"/>
              </a:rPr>
              <a:t>FY25 Operations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FBFBF"/>
                </a:solidFill>
                <a:latin typeface="Georgia"/>
              </a:rPr>
              <a:t>Prepared by the Delivery Excellence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Verdana"/>
              </a:rPr>
              <a:t>Service Performance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743200" cy="14630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Verdana"/>
              </a:rPr>
              <a:t>97.6%</a:t>
            </a:r>
          </a:p>
          <a:p>
            <a:r>
              <a:rPr sz="1300" b="0">
                <a:solidFill>
                  <a:srgbClr val="BFBFBF"/>
                </a:solidFill>
                <a:latin typeface="Verdana"/>
              </a:rPr>
              <a:t>On-time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554480"/>
            <a:ext cx="2743200" cy="14630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Verdana"/>
              </a:rPr>
              <a:t>96.8%</a:t>
            </a:r>
          </a:p>
          <a:p>
            <a:r>
              <a:rPr sz="1300" b="0">
                <a:solidFill>
                  <a:srgbClr val="BFBFBF"/>
                </a:solidFill>
                <a:latin typeface="Verdana"/>
              </a:rPr>
              <a:t>First-time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554480"/>
            <a:ext cx="2743200" cy="14630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C00000"/>
                </a:solidFill>
                <a:latin typeface="Verdana"/>
              </a:rPr>
              <a:t>-2.1%</a:t>
            </a:r>
          </a:p>
          <a:p>
            <a:r>
              <a:rPr sz="1300" b="0">
                <a:solidFill>
                  <a:srgbClr val="BFBFBF"/>
                </a:solidFill>
                <a:latin typeface="Verdana"/>
              </a:rPr>
              <a:t>Margin alert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47472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54864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OTD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Churn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577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FBFBF"/>
                </a:solidFill>
                <a:latin typeface="Arial"/>
              </a:rPr>
              <a:t>Source: internal ops dashboard, FY25 Q3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0058400" y="5852160"/>
            <a:ext cx="1645920" cy="365760"/>
            <a:chOff x="10058400" y="5852160"/>
            <a:chExt cx="1645920" cy="365760"/>
          </a:xfrm>
        </p:grpSpPr>
        <p:sp>
          <p:nvSpPr>
            <p:cNvPr id="10" name="TextBox 9"/>
            <p:cNvSpPr txBox="1"/>
            <p:nvPr/>
          </p:nvSpPr>
          <p:spPr>
            <a:xfrm>
              <a:off x="10058400" y="5852160"/>
              <a:ext cx="16459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100" b="0">
                  <a:solidFill>
                    <a:srgbClr val="BFBFBF"/>
                  </a:solidFill>
                  <a:latin typeface="Arial"/>
                </a:rPr>
                <a:t>Confidential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Verdana"/>
              </a:rPr>
              <a:t>Quarterly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6304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61120" y="2011680"/>
            <a:ext cx="2743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Both series improved for four consecutive quarters; the Q4 margin dip needs a dedicated recovery plan with named owners.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