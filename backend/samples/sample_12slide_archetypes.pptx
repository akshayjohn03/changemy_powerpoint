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Strategic Corporate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Prepared by Leadership Team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Executive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4572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Agenda Item 1: Global Strategy and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4572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Agenda Item 2: Global Strategy and 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4572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Agenda Item 3: Global Strategy and Execution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4572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Agenda Item 4: Global Strategy and Execution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71600"/>
            <a:ext cx="4114800" cy="18288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3657600"/>
            <a:ext cx="4114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6400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Market Growth Opportunities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029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t>Pillar 1: Accelerated Delivery</a:t>
            </a:r>
          </a:p>
          <a:p>
            <a:r>
              <a:t>Expanding cloud adoption and cross-functional operations with measurable outcomes.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5029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t>Pillar 2: Accelerated Delivery</a:t>
            </a:r>
          </a:p>
          <a:p>
            <a:r>
              <a:t>Expanding cloud adoption and cross-functional operations with measurable outcomes.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0"/>
            <a:ext cx="5029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t>Pillar 3: Accelerated Delivery</a:t>
            </a:r>
          </a:p>
          <a:p>
            <a:r>
              <a:t>Expanding cloud adoption and cross-functional operations with measurable outcomes.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463040"/>
            <a:ext cx="475488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0116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Topic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017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Operational Excellence and Engineering Delivery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71600"/>
            <a:ext cx="41148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Financial Performance Metrics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645920"/>
          <a:ext cx="100584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1028700">
                <a:tc>
                  <a:txBody>
                    <a:bodyPr/>
                    <a:lstStyle/>
                    <a:p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FY24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FY25 Plan</a:t>
                      </a:r>
                    </a:p>
                  </a:txBody>
                  <a:tcPr/>
                </a:tc>
              </a:tr>
              <a:tr h="1028700">
                <a:tc>
                  <a:txBody>
                    <a:bodyPr/>
                    <a:lstStyle/>
                    <a:p>
                      <a:r>
                        <a:t>Revenue ($M)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$124.5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$168.0</a:t>
                      </a:r>
                    </a:p>
                  </a:txBody>
                  <a:tcPr/>
                </a:tc>
              </a:tr>
              <a:tr h="1028700">
                <a:tc>
                  <a:txBody>
                    <a:bodyPr/>
                    <a:lstStyle/>
                    <a:p>
                      <a:r>
                        <a:t>Operating 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26.8%</a:t>
                      </a:r>
                    </a:p>
                  </a:txBody>
                  <a:tcPr/>
                </a:tc>
              </a:tr>
              <a:tr h="1028700">
                <a:tc>
                  <a:txBody>
                    <a:bodyPr/>
                    <a:lstStyle/>
                    <a:p>
                      <a:r>
                        <a:t>Customer Retention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98.5%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Client Testimonial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"BrandMorph transformed our entire enterprise content supply chain in days."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Executive Leadership Team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63040"/>
            <a:ext cx="2286000" cy="228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3931920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Alex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297680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Chief Executive Officer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1463040"/>
            <a:ext cx="2286000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11880" y="3931920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Sarah Chen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80" y="4297680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VP Engineering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463040"/>
            <a:ext cx="2286000" cy="2286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46520" y="3931920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Marcus Vance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4297680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Chief Product Officer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1463040"/>
            <a:ext cx="2286000" cy="2286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281160" y="3931920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Elena Rostova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81160" y="4297680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Head of Design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Product Delivery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2286000"/>
            <a:ext cx="2194560" cy="2560320"/>
          </a:xfrm>
          <a:prstGeom prst="rect">
            <a:avLst/>
          </a:prstGeom>
          <a:solidFill>
            <a:srgbClr val="0816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/>
            </a:pPr>
            <a:r>
              <a:t>Q1: Discovery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286000"/>
            <a:ext cx="2194560" cy="2560320"/>
          </a:xfrm>
          <a:prstGeom prst="rect">
            <a:avLst/>
          </a:prstGeom>
          <a:solidFill>
            <a:srgbClr val="00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/>
            </a:pPr>
            <a:r>
              <a:t>Q2: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2286000"/>
            <a:ext cx="2194560" cy="2560320"/>
          </a:xfrm>
          <a:prstGeom prst="rect">
            <a:avLst/>
          </a:prstGeom>
          <a:solidFill>
            <a:srgbClr val="0816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/>
            </a:pPr>
            <a:r>
              <a:t>Q3: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8595359" y="2286000"/>
            <a:ext cx="2194560" cy="2560320"/>
          </a:xfrm>
          <a:prstGeom prst="rect">
            <a:avLst/>
          </a:prstGeom>
          <a:solidFill>
            <a:srgbClr val="0816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/>
            </a:pPr>
            <a:r>
              <a:t>Q4: Scale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Key Transformation Pillars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329184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t>Pillar 01</a:t>
            </a:r>
          </a:p>
          <a:p>
            <a:r>
              <a:t>High-velocity pipeline automation enforcing compliance and typography.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0" y="1828800"/>
            <a:ext cx="329184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t>Pillar 02</a:t>
            </a:r>
          </a:p>
          <a:p>
            <a:r>
              <a:t>High-velocity pipeline automation enforcing compliance and typography.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828800"/>
            <a:ext cx="329184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t>Pillar 03</a:t>
            </a:r>
          </a:p>
          <a:p>
            <a:r>
              <a:t>High-velocity pipeline automation enforcing compliance and typography.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Global Infrastructure &amp;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512064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Zone 1 Regional Datacenter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828800"/>
            <a:ext cx="512064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Zone 2 Regional Datacenter Architecture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6400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Risk Governance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029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Control Level 1: Automated CI/CD Auditing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5029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Control Level 2: Automated CI/CD Auditing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06240"/>
            <a:ext cx="5029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Control Level 3: Automated CI/CD Auditing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463040"/>
            <a:ext cx="438912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4747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Contact: team@brandmorph.com | https://brandmorph-tau.vercel.app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