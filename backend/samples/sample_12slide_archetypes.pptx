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9601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0">
                <a:solidFill>
                  <a:srgbClr val="18181B"/>
                </a:solidFill>
                <a:latin typeface="Times New Roman"/>
              </a:defRPr>
            </a:pPr>
            <a:r>
              <a:t>Strategic Corporate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Prepared for Executive Leadership &amp; Board of Directors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latin typeface="Times New Roman"/>
              </a:defRPr>
            </a:pPr>
            <a:r>
              <a:t>Executive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alibri"/>
              </a:defRPr>
            </a:pPr>
            <a:r>
              <a:t>01. Corporate Mission &amp; Strategic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alibri"/>
              </a:defRPr>
            </a:pPr>
            <a:r>
              <a:t>02. Operational Architecture &amp; Cloud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alibri"/>
              </a:defRPr>
            </a:pPr>
            <a:r>
              <a:t>03. Global Financial &amp;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alibri"/>
              </a:defRPr>
            </a:pPr>
            <a:r>
              <a:t>04. Risk Governance &amp; Execution Roadmap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389120" cy="20116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931920"/>
            <a:ext cx="438912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Market Growth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Pillar 01: Intelligent Pipeline</a:t>
            </a:r>
          </a:p>
          <a:p>
            <a:pPr>
              <a:defRPr sz="1100"/>
            </a:pPr>
            <a:r>
              <a:t>Automated slide governance guaranteeing brand consistency across all global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Pillar 02: Neural Alignment</a:t>
            </a:r>
          </a:p>
          <a:p>
            <a:pPr>
              <a:defRPr sz="1100"/>
            </a:pPr>
            <a:r>
              <a:t>Real-time layout classification with sub-millisecond inference and spatial consensus.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Pillar 03: Scalable Operations</a:t>
            </a:r>
          </a:p>
          <a:p>
            <a:pPr>
              <a:defRPr sz="1100"/>
            </a:pPr>
            <a:r>
              <a:t>Enterprise-grade OpenXML decompilation with full fidelity asset preservation.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389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latin typeface="Times New Roman"/>
              </a:defRPr>
            </a:pPr>
            <a:r>
              <a:t>Topic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Engineering Architecture &amp; Scalable Infrastructure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206240" cy="420624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Financial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241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1F33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1F33"/>
                          </a:solidFill>
                        </a:defRPr>
                      </a:pPr>
                      <a:r>
                        <a:t>FY24 Actual</a:t>
                      </a:r>
                    </a:p>
                  </a:txBody>
                  <a:tcPr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1F33"/>
                          </a:solidFill>
                        </a:defRPr>
                      </a:pPr>
                      <a:r>
                        <a:t>FY25 Plan</a:t>
                      </a:r>
                    </a:p>
                  </a:txBody>
                  <a:tcPr>
                    <a:solidFill>
                      <a:srgbClr val="FFB81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Total Revenue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$124.5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$168.0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Gross Margin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78.5%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Customer Retention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18181B"/>
                </a:solidFill>
                <a:latin typeface="Times New Roman"/>
              </a:defRPr>
            </a:pPr>
            <a:r>
              <a:t>"BrandMorph transformed our enterprise presentation workflow into an automated, brand-governed content supply chain."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— Chief Technology Officer, Fortune 500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Executive Leadership Team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194560" cy="2194560"/>
          </a:xfrm>
          <a:prstGeom prst="ellipse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Alex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Chief Executive Officer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45920"/>
            <a:ext cx="2194560" cy="2194560"/>
          </a:xfrm>
          <a:prstGeom prst="ellipse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0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Sarah 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389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VP Engineering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45920"/>
            <a:ext cx="2194560" cy="2194560"/>
          </a:xfrm>
          <a:prstGeom prst="ellipse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Marcus 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389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Chief Product Officer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645920"/>
            <a:ext cx="2194560" cy="2194560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60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Elena Rostova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389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Head of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Product 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468880" cy="3840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181B"/>
                </a:solidFill>
              </a:defRPr>
            </a:pPr>
            <a:r>
              <a:t>Q1: Discovery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Decompile existing slide library, extract AST graph, normalize tokens.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828800"/>
            <a:ext cx="2468880" cy="3840480"/>
          </a:xfrm>
          <a:prstGeom prst="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181B"/>
                </a:solidFill>
              </a:defRPr>
            </a:pPr>
            <a:r>
              <a:t>Q2: Architecture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Deploy SlideGNN neural model and WCAG 2.1 color contrast solver.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828800"/>
            <a:ext cx="2468880" cy="3840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181B"/>
                </a:solidFill>
              </a:defRPr>
            </a:pPr>
            <a:r>
              <a:t>Q3: Deployment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Ship high-craft React &amp; Tauri client with before/after visual inspection.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60" y="1828800"/>
            <a:ext cx="2468880" cy="3840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181B"/>
                </a:solidFill>
              </a:defRPr>
            </a:pPr>
            <a:r>
              <a:t>Q4: Scale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Full enterprise automated deck migration across Fortune 500 tenants.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Key Transformation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291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Automated Compliance</a:t>
            </a:r>
          </a:p>
          <a:p>
            <a:pPr>
              <a:defRPr sz="1100"/>
            </a:pPr>
            <a:r>
              <a:t>Continuous auditing of brand guidelines, font normalization, and OpenXML coordinate hygiene.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1828800"/>
            <a:ext cx="3291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Deterministic Layout</a:t>
            </a:r>
          </a:p>
          <a:p>
            <a:pPr>
              <a:defRPr sz="1100"/>
            </a:pPr>
            <a:r>
              <a:t>Top-left snapping, clean whitespace preservation, and zero destructive coordinate overwrites.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0" y="1828800"/>
            <a:ext cx="3291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Universal Export</a:t>
            </a:r>
          </a:p>
          <a:p>
            <a:pPr>
              <a:defRPr sz="1100"/>
            </a:pPr>
            <a:r>
              <a:t>One-click PPTX builder producing pristine binary presentations ready for executive boardroom display.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Global Infrastructure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North America &amp; EMEA Region</a:t>
            </a:r>
          </a:p>
          <a:p>
            <a:pPr>
              <a:defRPr sz="1150"/>
            </a:pPr>
            <a:r>
              <a:t>Multi-region edge deployment with sub-10ms response times and automated load balancing.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82880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Asia-Pacific &amp; LATAM Region</a:t>
            </a:r>
          </a:p>
          <a:p>
            <a:pPr>
              <a:defRPr sz="1150"/>
            </a:pPr>
            <a:r>
              <a:t>Strict localized compliance, multi-lingual font fallback resolution, and isolated tenant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Executive Summary &amp; Milestones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28800"/>
            <a:ext cx="2286000" cy="2286000"/>
          </a:xfrm>
          <a:prstGeom prst="ellipse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38912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Phase 1: Ingestion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28800"/>
            <a:ext cx="2286000" cy="228600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438912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Phase 2: Alignment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828800"/>
            <a:ext cx="2286000" cy="2286000"/>
          </a:xfrm>
          <a:prstGeom prst="ellipse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80" y="438912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Phase 3: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C96A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Website: https://brandmorph-tau.vercel.app</a:t>
            </a:r>
            <a:br/>
            <a:r>
              <a:t>Inquiries: team@brandmorph.com</a:t>
            </a:r>
            <a:br/>
            <a:r>
              <a:t>Headquarters: San Francisco, CA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38912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